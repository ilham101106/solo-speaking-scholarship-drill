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TIME: 0:00 - 0:30]</a:t>
            </a:r>
          </a:p>
          <a:p/>
          <a:p>
            <a:r>
              <a:t>HOOK &amp; INTRODUCTION:</a:t>
            </a:r>
          </a:p>
          <a:p>
            <a:r>
              <a:t>"Distinguished interviewers, good morning. Today, I am proud to present my master's research proposal titled 'Bridging the Critical Divide.' As a prospective scholar, my objective is not merely to obtain an international degree, but to master cutting-edge global methodologies and adapt them directly to resolve one of Indonesia's most pressing development bottlenecks. Over the next three minutes, I will walk you through the urgency of this problem, my proposed research approach, and my concrete 5-year return contribution to our home country."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TIME: 0:30 - 1:15]</a:t>
            </a:r>
          </a:p>
          <a:p/>
          <a:p>
            <a:r>
              <a:t>PROBLEM EXPLANATION (HOOK):</a:t>
            </a:r>
          </a:p>
          <a:p>
            <a:r>
              <a:t>"To understand the significance of my research, we must look at the reality in Indonesia today. Currently, our sector faces a critical 68% deficit in efficiency and technical readiness. Why? Because domestic universities currently lack the specialized lab infrastructure and interdisciplinary methodologies required to address this issue at its core. If we continue with business as usual, our national development goals will be severely delayed. This is precisely why undertaking advanced study overseas is an urgent necessity, not a luxury."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TIME: 1:15 - 2:00]</a:t>
            </a:r>
          </a:p>
          <a:p/>
          <a:p>
            <a:r>
              <a:t>PROPOSED SOLUTION &amp; WHY THIS UNIVERSITY:</a:t>
            </a:r>
          </a:p>
          <a:p>
            <a:r>
              <a:t>"My proposed thesis is built upon three strategic pillars. First, the specialized curriculum at my target university will provide me with cutting-edge analytical models. Second, conducting research under Professor [Target Faculty] in their renowned lab will grant me hands-on experience with tested global frameworks. Most importantly, my research will not remain theoretical: I will calibrate all empirical experiments using Indonesian case studies to guarantee that the solutions we engineer can be seamlessly implemented back home upon graduation."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TIME: 2:00 - 2:40]</a:t>
            </a:r>
          </a:p>
          <a:p/>
          <a:p>
            <a:r>
              <a:t>POST-STUDY ROADMAP:</a:t>
            </a:r>
          </a:p>
          <a:p>
            <a:r>
              <a:t>"A scholarship is an investment, and reviewer panel members rightly demand a tangible return on investment. My post-study roadmap is divided into three clear milestones. In Year 1, I will immediately repatriate to Indonesia and launch a targeted pilot project based on my thesis findings. In Years 2 to 3, I will scale this pilot through institutional partnerships and establish knowledge-sharing channels with my overseas alma mater. By Year 5, my goal is to translate these proven empirical results into national policy recommendations in collaboration with key ministries."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TIME: 2:40 - 3:00]</a:t>
            </a:r>
          </a:p>
          <a:p/>
          <a:p>
            <a:r>
              <a:t>CONCLUSION &amp; Q&amp;A TRANSITION:</a:t>
            </a:r>
          </a:p>
          <a:p>
            <a:r>
              <a:t>"To conclude, funding my master's journey is not just financing another academic degree; it is investing in a strategic, long-term solution to a well-documented Indonesian challenge. I have the academic grit, the institutional clarity, and the unwavering dedication to return home and deliver measurable impact. Thank you very much for your time and attention, and I am eager to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371600"/>
            <a:ext cx="3291840" cy="411480"/>
          </a:xfrm>
          <a:prstGeom prst="roundRect">
            <a:avLst/>
          </a:prstGeom>
          <a:solidFill>
            <a:srgbClr val="1E2945"/>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6B6D4"/>
                </a:solidFill>
                <a:latin typeface="Arial"/>
              </a:defRPr>
            </a:pPr>
            <a:r>
              <a:t>🎓 SCHOLARSHIP RESEARCH PITCH</a:t>
            </a:r>
          </a:p>
        </p:txBody>
      </p:sp>
      <p:sp>
        <p:nvSpPr>
          <p:cNvPr id="4" name="TextBox 3"/>
          <p:cNvSpPr txBox="1"/>
          <p:nvPr/>
        </p:nvSpPr>
        <p:spPr>
          <a:xfrm>
            <a:off x="1097280" y="2011680"/>
            <a:ext cx="9601200" cy="2011680"/>
          </a:xfrm>
          <a:prstGeom prst="rect">
            <a:avLst/>
          </a:prstGeom>
          <a:noFill/>
        </p:spPr>
        <p:txBody>
          <a:bodyPr wrap="square">
            <a:spAutoFit/>
          </a:bodyPr>
          <a:lstStyle/>
          <a:p>
            <a:pPr>
              <a:defRPr sz="4000" b="1">
                <a:solidFill>
                  <a:srgbClr val="F8FAFC"/>
                </a:solidFill>
                <a:latin typeface="Arial"/>
              </a:defRPr>
            </a:pPr>
            <a:r>
              <a:t>Bridging the Critical Divide:</a:t>
            </a:r>
          </a:p>
          <a:p>
            <a:pPr>
              <a:defRPr sz="2400">
                <a:solidFill>
                  <a:srgbClr val="06B6D4"/>
                </a:solidFill>
                <a:latin typeface="Arial"/>
              </a:defRPr>
            </a:pPr>
            <a:r>
              <a:t>A Master's Research Proposal to Catalyze Indonesia's Strategic Growth</a:t>
            </a:r>
          </a:p>
        </p:txBody>
      </p:sp>
      <p:sp>
        <p:nvSpPr>
          <p:cNvPr id="5" name="Rounded Rectangle 4"/>
          <p:cNvSpPr/>
          <p:nvPr/>
        </p:nvSpPr>
        <p:spPr>
          <a:xfrm>
            <a:off x="1097280" y="4389120"/>
            <a:ext cx="6858000" cy="1188720"/>
          </a:xfrm>
          <a:prstGeom prst="roundRect">
            <a:avLst/>
          </a:prstGeom>
          <a:solidFill>
            <a:srgbClr val="161E34"/>
          </a:solidFill>
          <a:ln>
            <a:solidFill>
              <a:srgbClr val="2834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8FAFC"/>
                </a:solidFill>
              </a:defRPr>
            </a:pPr>
            <a:r>
              <a:t>Prospective Master's Candidate | LPDP / Chevening / AAS Drill</a:t>
            </a:r>
          </a:p>
          <a:p>
            <a:pPr>
              <a:defRPr sz="1300">
                <a:solidFill>
                  <a:srgbClr val="94A3B8"/>
                </a:solidFill>
              </a:defRPr>
            </a:pPr>
            <a:r>
              <a:t>Focus: Academic Rigor • Global Technology Transfer • 5-Year Return Impact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32720" cy="914400"/>
          </a:xfrm>
          <a:prstGeom prst="rect">
            <a:avLst/>
          </a:prstGeom>
          <a:noFill/>
        </p:spPr>
        <p:txBody>
          <a:bodyPr wrap="none">
            <a:spAutoFit/>
          </a:bodyPr>
          <a:lstStyle/>
          <a:p>
            <a:pPr>
              <a:defRPr sz="2800" b="1">
                <a:solidFill>
                  <a:srgbClr val="F8FAFC"/>
                </a:solidFill>
              </a:defRPr>
            </a:pPr>
            <a:r>
              <a:t>01. The Urgency: Why Indonesia Needs This Now</a:t>
            </a:r>
          </a:p>
        </p:txBody>
      </p:sp>
      <p:sp>
        <p:nvSpPr>
          <p:cNvPr id="4" name="Rounded Rectangle 3"/>
          <p:cNvSpPr/>
          <p:nvPr/>
        </p:nvSpPr>
        <p:spPr>
          <a:xfrm>
            <a:off x="914400" y="1645920"/>
            <a:ext cx="3200400" cy="4389120"/>
          </a:xfrm>
          <a:prstGeom prst="roundRect">
            <a:avLst/>
          </a:prstGeom>
          <a:solidFill>
            <a:srgbClr val="161E34"/>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59E0B"/>
                </a:solidFill>
              </a:defRPr>
            </a:pPr>
            <a:r>
              <a:t>THE STATISTIC</a:t>
            </a:r>
          </a:p>
          <a:p>
            <a:pPr>
              <a:defRPr sz="4800" b="1">
                <a:solidFill>
                  <a:srgbClr val="F8FAFC"/>
                </a:solidFill>
              </a:defRPr>
            </a:pPr>
            <a:r>
              <a:t>68%</a:t>
            </a:r>
          </a:p>
          <a:p>
            <a:pPr>
              <a:defRPr sz="1300">
                <a:solidFill>
                  <a:srgbClr val="94A3B8"/>
                </a:solidFill>
              </a:defRPr>
            </a:pPr>
            <a:r>
              <a:t>Disparity or bottleneck identified in our current domestic infrastructure and policy implementation.</a:t>
            </a:r>
          </a:p>
        </p:txBody>
      </p:sp>
      <p:sp>
        <p:nvSpPr>
          <p:cNvPr id="5" name="Rounded Rectangle 4"/>
          <p:cNvSpPr/>
          <p:nvPr/>
        </p:nvSpPr>
        <p:spPr>
          <a:xfrm>
            <a:off x="4389120" y="1645920"/>
            <a:ext cx="3200400" cy="4389120"/>
          </a:xfrm>
          <a:prstGeom prst="roundRect">
            <a:avLst/>
          </a:prstGeom>
          <a:solidFill>
            <a:srgbClr val="161E34"/>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6B6D4"/>
                </a:solidFill>
              </a:defRPr>
            </a:pPr>
            <a:r>
              <a:t>THE BOTTLENECK</a:t>
            </a:r>
          </a:p>
          <a:p>
            <a:pPr>
              <a:defRPr sz="2000" b="1">
                <a:solidFill>
                  <a:srgbClr val="F8FAFC"/>
                </a:solidFill>
              </a:defRPr>
            </a:pPr>
            <a:r>
              <a:t>Domestic Research Gap</a:t>
            </a:r>
          </a:p>
          <a:p>
            <a:br/>
            <a:pPr>
              <a:defRPr sz="1300">
                <a:solidFill>
                  <a:srgbClr val="94A3B8"/>
                </a:solidFill>
              </a:defRPr>
            </a:pPr>
            <a:r>
              <a:t>• Lack of advanced laboratory facilities locally.</a:t>
            </a:r>
            <a:br/>
            <a:r>
              <a:t>• Insufficient interdisciplinary collaboration.</a:t>
            </a:r>
            <a:br/>
            <a:r>
              <a:t>• Reliance on outdated frameworks without global benchmarks.</a:t>
            </a:r>
          </a:p>
        </p:txBody>
      </p:sp>
      <p:sp>
        <p:nvSpPr>
          <p:cNvPr id="6" name="Rounded Rectangle 5"/>
          <p:cNvSpPr/>
          <p:nvPr/>
        </p:nvSpPr>
        <p:spPr>
          <a:xfrm>
            <a:off x="7863840" y="1645920"/>
            <a:ext cx="3383280" cy="4389120"/>
          </a:xfrm>
          <a:prstGeom prst="roundRect">
            <a:avLst/>
          </a:prstGeom>
          <a:solidFill>
            <a:srgbClr val="161E34"/>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43F5E"/>
                </a:solidFill>
              </a:defRPr>
            </a:pPr>
            <a:r>
              <a:t>THE CONSEQUENCE</a:t>
            </a:r>
          </a:p>
          <a:p>
            <a:pPr>
              <a:defRPr sz="2000" b="1">
                <a:solidFill>
                  <a:srgbClr val="F8FAFC"/>
                </a:solidFill>
              </a:defRPr>
            </a:pPr>
            <a:r>
              <a:t>Inaction is Expensive</a:t>
            </a:r>
          </a:p>
          <a:p>
            <a:br/>
            <a:pPr>
              <a:defRPr sz="1300">
                <a:solidFill>
                  <a:srgbClr val="94A3B8"/>
                </a:solidFill>
              </a:defRPr>
            </a:pPr>
            <a:r>
              <a:t>Without immediate technical intervention, Indonesia risks falling behind in international competitiveness and economic resilience by 2030.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32720" cy="914400"/>
          </a:xfrm>
          <a:prstGeom prst="rect">
            <a:avLst/>
          </a:prstGeom>
          <a:noFill/>
        </p:spPr>
        <p:txBody>
          <a:bodyPr wrap="none">
            <a:spAutoFit/>
          </a:bodyPr>
          <a:lstStyle/>
          <a:p>
            <a:pPr>
              <a:defRPr sz="2800" b="1">
                <a:solidFill>
                  <a:srgbClr val="F8FAFC"/>
                </a:solidFill>
              </a:defRPr>
            </a:pPr>
            <a:r>
              <a:t>02. The Proposed Solution: Overseas Master's Focus</a:t>
            </a:r>
          </a:p>
        </p:txBody>
      </p:sp>
      <p:sp>
        <p:nvSpPr>
          <p:cNvPr id="4" name="Rounded Rectangle 3"/>
          <p:cNvSpPr/>
          <p:nvPr/>
        </p:nvSpPr>
        <p:spPr>
          <a:xfrm>
            <a:off x="914400" y="1645920"/>
            <a:ext cx="10332720" cy="1280160"/>
          </a:xfrm>
          <a:prstGeom prst="roundRect">
            <a:avLst/>
          </a:prstGeom>
          <a:solidFill>
            <a:srgbClr val="161E34"/>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66F1"/>
                </a:solidFill>
              </a:defRPr>
            </a:pPr>
            <a:r>
              <a:t>PILLAR 1: CURRICULUM</a:t>
            </a:r>
          </a:p>
          <a:p>
            <a:pPr>
              <a:defRPr sz="1500" b="1">
                <a:solidFill>
                  <a:srgbClr val="F8FAFC"/>
                </a:solidFill>
              </a:defRPr>
            </a:pPr>
            <a:r>
              <a:t>Specialized Advanced Modules — </a:t>
            </a:r>
            <a:r>
              <a:rPr sz="1300" b="0">
                <a:solidFill>
                  <a:srgbClr val="94A3B8"/>
                </a:solidFill>
              </a:rPr>
              <a:t>Accessing coursework in advanced systems modeling and empirical policy design currently unavailable domestically.</a:t>
            </a:r>
          </a:p>
        </p:txBody>
      </p:sp>
      <p:sp>
        <p:nvSpPr>
          <p:cNvPr id="5" name="Rounded Rectangle 4"/>
          <p:cNvSpPr/>
          <p:nvPr/>
        </p:nvSpPr>
        <p:spPr>
          <a:xfrm>
            <a:off x="914400" y="3154680"/>
            <a:ext cx="10332720" cy="1280160"/>
          </a:xfrm>
          <a:prstGeom prst="roundRect">
            <a:avLst/>
          </a:prstGeom>
          <a:solidFill>
            <a:srgbClr val="161E3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6B6D4"/>
                </a:solidFill>
              </a:defRPr>
            </a:pPr>
            <a:r>
              <a:t>PILLAR 2: FACULTY &amp; LAB</a:t>
            </a:r>
          </a:p>
          <a:p>
            <a:pPr>
              <a:defRPr sz="1500" b="1">
                <a:solidFill>
                  <a:srgbClr val="F8FAFC"/>
                </a:solidFill>
              </a:defRPr>
            </a:pPr>
            <a:r>
              <a:t>Distinguished Mentorship — </a:t>
            </a:r>
            <a:r>
              <a:rPr sz="1300" b="0">
                <a:solidFill>
                  <a:srgbClr val="94A3B8"/>
                </a:solidFill>
              </a:rPr>
              <a:t>Working under Professor [Name] in [Specific Lab], which pioneered global frameworks adapted in 15+ developing nations.</a:t>
            </a:r>
          </a:p>
        </p:txBody>
      </p:sp>
      <p:sp>
        <p:nvSpPr>
          <p:cNvPr id="6" name="Rounded Rectangle 5"/>
          <p:cNvSpPr/>
          <p:nvPr/>
        </p:nvSpPr>
        <p:spPr>
          <a:xfrm>
            <a:off x="914400" y="4663440"/>
            <a:ext cx="10332720" cy="1280160"/>
          </a:xfrm>
          <a:prstGeom prst="roundRect">
            <a:avLst/>
          </a:prstGeom>
          <a:solidFill>
            <a:srgbClr val="161E34"/>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59E0B"/>
                </a:solidFill>
              </a:defRPr>
            </a:pPr>
            <a:r>
              <a:t>PILLAR 3: TRANSFERABILITY</a:t>
            </a:r>
          </a:p>
          <a:p>
            <a:pPr>
              <a:defRPr sz="1500" b="1">
                <a:solidFill>
                  <a:srgbClr val="F8FAFC"/>
                </a:solidFill>
              </a:defRPr>
            </a:pPr>
            <a:r>
              <a:t>Localized Prototyping — </a:t>
            </a:r>
            <a:r>
              <a:rPr sz="1300" b="0">
                <a:solidFill>
                  <a:srgbClr val="94A3B8"/>
                </a:solidFill>
              </a:rPr>
              <a:t>Directly designing thesis experiments using Indonesian empirical datasets to ensure 100% actionable feasibility upon return.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32720" cy="914400"/>
          </a:xfrm>
          <a:prstGeom prst="rect">
            <a:avLst/>
          </a:prstGeom>
          <a:noFill/>
        </p:spPr>
        <p:txBody>
          <a:bodyPr wrap="none">
            <a:spAutoFit/>
          </a:bodyPr>
          <a:lstStyle/>
          <a:p>
            <a:pPr>
              <a:defRPr sz="2800" b="1">
                <a:solidFill>
                  <a:srgbClr val="F8FAFC"/>
                </a:solidFill>
              </a:defRPr>
            </a:pPr>
            <a:r>
              <a:t>03. Return Contribution: 5-Year Action Roadmap</a:t>
            </a:r>
          </a:p>
        </p:txBody>
      </p:sp>
      <p:sp>
        <p:nvSpPr>
          <p:cNvPr id="4" name="Rounded Rectangle 3"/>
          <p:cNvSpPr/>
          <p:nvPr/>
        </p:nvSpPr>
        <p:spPr>
          <a:xfrm>
            <a:off x="914400" y="1645920"/>
            <a:ext cx="3291840" cy="4389120"/>
          </a:xfrm>
          <a:prstGeom prst="roundRect">
            <a:avLst/>
          </a:prstGeom>
          <a:solidFill>
            <a:srgbClr val="161E3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6B6D4"/>
                </a:solidFill>
              </a:defRPr>
            </a:pPr>
            <a:r>
              <a:t>YEAR 1</a:t>
            </a:r>
          </a:p>
          <a:p>
            <a:pPr>
              <a:defRPr sz="1600" b="1">
                <a:solidFill>
                  <a:srgbClr val="F8FAFC"/>
                </a:solidFill>
              </a:defRPr>
            </a:pPr>
            <a:r>
              <a:t>Immediate Repatriation &amp; Baseline Pilot</a:t>
            </a:r>
          </a:p>
          <a:p>
            <a:br/>
            <a:pPr>
              <a:defRPr sz="1200">
                <a:solidFill>
                  <a:srgbClr val="94A3B8"/>
                </a:solidFill>
              </a:defRPr>
            </a:pPr>
            <a:r>
              <a:t>• Return immediately to home institution/industry.</a:t>
            </a:r>
            <a:br/>
            <a:r>
              <a:t>• Publish thesis findings in accredited journals.</a:t>
            </a:r>
            <a:br/>
            <a:r>
              <a:t>• Launch pilot implementation in target region.</a:t>
            </a:r>
          </a:p>
        </p:txBody>
      </p:sp>
      <p:sp>
        <p:nvSpPr>
          <p:cNvPr id="5" name="Rounded Rectangle 4"/>
          <p:cNvSpPr/>
          <p:nvPr/>
        </p:nvSpPr>
        <p:spPr>
          <a:xfrm>
            <a:off x="4434840" y="1645920"/>
            <a:ext cx="3291840" cy="4389120"/>
          </a:xfrm>
          <a:prstGeom prst="roundRect">
            <a:avLst/>
          </a:prstGeom>
          <a:solidFill>
            <a:srgbClr val="161E34"/>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6366F1"/>
                </a:solidFill>
              </a:defRPr>
            </a:pPr>
            <a:r>
              <a:t>YEAR 2 - 3</a:t>
            </a:r>
          </a:p>
          <a:p>
            <a:pPr>
              <a:defRPr sz="1600" b="1">
                <a:solidFill>
                  <a:srgbClr val="F8FAFC"/>
                </a:solidFill>
              </a:defRPr>
            </a:pPr>
            <a:r>
              <a:t>Institutional Scaling &amp; Partnerships</a:t>
            </a:r>
          </a:p>
          <a:p>
            <a:br/>
            <a:pPr>
              <a:defRPr sz="1200">
                <a:solidFill>
                  <a:srgbClr val="94A3B8"/>
                </a:solidFill>
              </a:defRPr>
            </a:pPr>
            <a:r>
              <a:t>• Expand pilot into a multi-stakeholder framework.</a:t>
            </a:r>
            <a:br/>
            <a:r>
              <a:t>• Establish international academic exchange between host university and Indonesian campus.</a:t>
            </a:r>
            <a:br/>
            <a:r>
              <a:t>• Mentor local researchers.</a:t>
            </a:r>
          </a:p>
        </p:txBody>
      </p:sp>
      <p:sp>
        <p:nvSpPr>
          <p:cNvPr id="6" name="Rounded Rectangle 5"/>
          <p:cNvSpPr/>
          <p:nvPr/>
        </p:nvSpPr>
        <p:spPr>
          <a:xfrm>
            <a:off x="7955279" y="1645920"/>
            <a:ext cx="3291840" cy="4389120"/>
          </a:xfrm>
          <a:prstGeom prst="roundRect">
            <a:avLst/>
          </a:prstGeom>
          <a:solidFill>
            <a:srgbClr val="161E34"/>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defRPr>
            </a:pPr>
            <a:r>
              <a:t>YEAR 4 - 5</a:t>
            </a:r>
          </a:p>
          <a:p>
            <a:pPr>
              <a:defRPr sz="1600" b="1">
                <a:solidFill>
                  <a:srgbClr val="F8FAFC"/>
                </a:solidFill>
              </a:defRPr>
            </a:pPr>
            <a:r>
              <a:t>Policy Reform &amp; National Impact</a:t>
            </a:r>
          </a:p>
          <a:p>
            <a:br/>
            <a:pPr>
              <a:defRPr sz="1200">
                <a:solidFill>
                  <a:srgbClr val="94A3B8"/>
                </a:solidFill>
              </a:defRPr>
            </a:pPr>
            <a:r>
              <a:t>• Advise relevant government ministries (e.g. Bappenas/BRIN/Ministry).</a:t>
            </a:r>
            <a:br/>
            <a:r>
              <a:t>• Deliver measurable reduction in target national deficit.</a:t>
            </a:r>
            <a:br/>
            <a:r>
              <a:t>• Scale framework nationwide.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32720" cy="914400"/>
          </a:xfrm>
          <a:prstGeom prst="rect">
            <a:avLst/>
          </a:prstGeom>
          <a:noFill/>
        </p:spPr>
        <p:txBody>
          <a:bodyPr wrap="none">
            <a:spAutoFit/>
          </a:bodyPr>
          <a:lstStyle/>
          <a:p>
            <a:pPr>
              <a:defRPr sz="2800" b="1">
                <a:solidFill>
                  <a:srgbClr val="F8FAFC"/>
                </a:solidFill>
              </a:defRPr>
            </a:pPr>
            <a:r>
              <a:t>04. The Value Proposition: Why Invest in Me?</a:t>
            </a:r>
          </a:p>
        </p:txBody>
      </p:sp>
      <p:sp>
        <p:nvSpPr>
          <p:cNvPr id="4" name="Rounded Rectangle 3"/>
          <p:cNvSpPr/>
          <p:nvPr/>
        </p:nvSpPr>
        <p:spPr>
          <a:xfrm>
            <a:off x="914400" y="1645920"/>
            <a:ext cx="10332720" cy="4389120"/>
          </a:xfrm>
          <a:prstGeom prst="roundRect">
            <a:avLst/>
          </a:prstGeom>
          <a:solidFill>
            <a:srgbClr val="161E34"/>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6B6D4"/>
                </a:solidFill>
              </a:defRPr>
            </a:pPr>
            <a:r>
              <a:t>THE SCHOLARSHIP PROMISE</a:t>
            </a:r>
          </a:p>
          <a:p>
            <a:pPr>
              <a:defRPr sz="2200" b="1">
                <a:solidFill>
                  <a:srgbClr val="F8FAFC"/>
                </a:solidFill>
              </a:defRPr>
            </a:pPr>
            <a:r>
              <a:t>"Investing in this master's study is not merely funding an individual degree—it is funding a catalyst for systemic transformation in Indonesia."</a:t>
            </a:r>
          </a:p>
          <a:p>
            <a:br/>
            <a:pPr>
              <a:defRPr sz="1400">
                <a:solidFill>
                  <a:srgbClr val="94A3B8"/>
                </a:solidFill>
              </a:defRPr>
            </a:pPr>
            <a:r>
              <a:t>✅ Proven Academic Foundation &amp; Professional Grit</a:t>
            </a:r>
            <a:br/>
            <a:r>
              <a:t>✅ Clear, Feasible, and Data-Driven Research Problem</a:t>
            </a:r>
            <a:br/>
            <a:r>
              <a:t>✅ Unwavering Commitment to Long-Term National Repatriation</a:t>
            </a:r>
            <a:br/>
            <a:br/>
            <a:r>
              <a:t>Thank you for your consideration. I am ready for your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